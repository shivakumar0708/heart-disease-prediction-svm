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823960" y="0"/>
            <a:ext cx="3367735" cy="6858000"/>
          </a:xfrm>
          <a:prstGeom prst="rect">
            <a:avLst/>
          </a:prstGeom>
          <a:solidFill>
            <a:srgbClr val="F25B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75488"/>
            <a:ext cx="7498079" cy="32004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1C365E"/>
                </a:solidFill>
                <a:latin typeface="Aptos"/>
              </a:defRPr>
            </a:pPr>
            <a:r>
              <a:t>ADITYA UNIVERSITY  |  DEPARTMENT OF AIML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987552"/>
            <a:ext cx="1143000" cy="64008"/>
          </a:xfrm>
          <a:prstGeom prst="rect">
            <a:avLst/>
          </a:prstGeom>
          <a:solidFill>
            <a:srgbClr val="F25B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7680960" cy="141732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spcAft>
                <a:spcPts val="400"/>
              </a:spcAft>
              <a:defRPr sz="3300" b="1">
                <a:solidFill>
                  <a:srgbClr val="1C365E"/>
                </a:solidFill>
                <a:latin typeface="Aptos Display"/>
              </a:defRPr>
            </a:pPr>
            <a:r>
              <a:t>HEART DISEASE</a:t>
            </a:r>
          </a:p>
          <a:p>
            <a:pPr>
              <a:spcAft>
                <a:spcPts val="400"/>
              </a:spcAft>
              <a:defRPr sz="3300" b="1">
                <a:solidFill>
                  <a:srgbClr val="1C365E"/>
                </a:solidFill>
                <a:latin typeface="Aptos Display"/>
              </a:defRPr>
            </a:pPr>
            <a:r>
              <a:t>PREDICTION USING SVM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063240"/>
            <a:ext cx="7223760" cy="384048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F25B0C"/>
                </a:solidFill>
                <a:latin typeface="Aptos"/>
              </a:defRPr>
            </a:pPr>
            <a:r>
              <a:t>SECOND REVIEW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794760"/>
            <a:ext cx="7315200" cy="150876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spcAft>
                <a:spcPts val="400"/>
              </a:spcAft>
              <a:defRPr sz="1300" b="0">
                <a:solidFill>
                  <a:srgbClr val="202834"/>
                </a:solidFill>
                <a:latin typeface="Aptos"/>
              </a:defRPr>
            </a:pPr>
            <a:r>
              <a:t>Guided by: Dr. R. Suneetha</a:t>
            </a:r>
          </a:p>
          <a:p>
            <a:pPr>
              <a:spcAft>
                <a:spcPts val="400"/>
              </a:spcAft>
              <a:defRPr sz="1300" b="0">
                <a:solidFill>
                  <a:srgbClr val="202834"/>
                </a:solidFill>
                <a:latin typeface="Aptos"/>
              </a:defRPr>
            </a:pPr>
            <a:r>
              <a:t>Presented by:</a:t>
            </a:r>
          </a:p>
          <a:p>
            <a:pPr>
              <a:spcAft>
                <a:spcPts val="400"/>
              </a:spcAft>
              <a:defRPr sz="1300" b="0">
                <a:solidFill>
                  <a:srgbClr val="202834"/>
                </a:solidFill>
                <a:latin typeface="Aptos"/>
              </a:defRPr>
            </a:pPr>
            <a:r>
              <a:t>G. Charan Reddy (24B11AI114)  •  D. Shiva Kumar Reddy (24B11AI076)</a:t>
            </a:r>
          </a:p>
          <a:p>
            <a:pPr>
              <a:spcAft>
                <a:spcPts val="400"/>
              </a:spcAft>
              <a:defRPr sz="1300" b="0">
                <a:solidFill>
                  <a:srgbClr val="202834"/>
                </a:solidFill>
                <a:latin typeface="Aptos"/>
              </a:defRPr>
            </a:pPr>
            <a:r>
              <a:t>B. Srinu (24B11AI053)  •  P. Mahammadi Rafi (24B11AI347)</a:t>
            </a:r>
          </a:p>
        </p:txBody>
      </p:sp>
      <p:sp>
        <p:nvSpPr>
          <p:cNvPr id="8" name="Oval 7"/>
          <p:cNvSpPr/>
          <p:nvPr/>
        </p:nvSpPr>
        <p:spPr>
          <a:xfrm>
            <a:off x="9464040" y="1024128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31552" y="1024128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Isosceles Triangle 9"/>
          <p:cNvSpPr/>
          <p:nvPr/>
        </p:nvSpPr>
        <p:spPr>
          <a:xfrm rot="10800000">
            <a:off x="9582912" y="1344168"/>
            <a:ext cx="1188720" cy="1097280"/>
          </a:xfrm>
          <a:prstGeom prst="triangl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98280" y="2788920"/>
            <a:ext cx="2651760" cy="100584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ctr">
              <a:spcAft>
                <a:spcPts val="400"/>
              </a:spcAft>
              <a:defRPr sz="2300" b="1">
                <a:solidFill>
                  <a:srgbClr val="FFFFFF"/>
                </a:solidFill>
                <a:latin typeface="Aptos"/>
              </a:defRPr>
            </a:pPr>
            <a:r>
              <a:t>MACHINE</a:t>
            </a:r>
          </a:p>
          <a:p>
            <a:pPr algn="ctr">
              <a:spcAft>
                <a:spcPts val="400"/>
              </a:spcAft>
              <a:defRPr sz="2300" b="1">
                <a:solidFill>
                  <a:srgbClr val="FFFFFF"/>
                </a:solidFill>
                <a:latin typeface="Aptos"/>
              </a:defRPr>
            </a:pPr>
            <a:r>
              <a:t>LEARNING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98280" y="5303520"/>
            <a:ext cx="2651760" cy="54864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ctr">
              <a:spcAft>
                <a:spcPts val="4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PROJECT REVIEW •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20040" y="164592"/>
            <a:ext cx="347472" cy="347472"/>
          </a:xfrm>
          <a:prstGeom prst="ellipse">
            <a:avLst/>
          </a:prstGeom>
          <a:solidFill>
            <a:srgbClr val="FFFFFF"/>
          </a:solidFill>
          <a:ln>
            <a:solidFill>
              <a:srgbClr val="2F6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201168"/>
            <a:ext cx="347472" cy="210312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ctr">
              <a:spcAft>
                <a:spcPts val="400"/>
              </a:spcAft>
              <a:defRPr sz="1500" b="1">
                <a:solidFill>
                  <a:srgbClr val="F25B0C"/>
                </a:solidFill>
                <a:latin typeface="Aptos"/>
              </a:defRPr>
            </a:pPr>
            <a: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92024"/>
            <a:ext cx="2743200" cy="27432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1C365E"/>
                </a:solidFill>
                <a:latin typeface="Aptos"/>
              </a:defRPr>
            </a:pPr>
            <a:r>
              <a:t>ADITYA UNIVERSITY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21792"/>
            <a:ext cx="12191695" cy="50292"/>
          </a:xfrm>
          <a:prstGeom prst="rect">
            <a:avLst/>
          </a:prstGeom>
          <a:solidFill>
            <a:srgbClr val="F25B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75720" y="6537960"/>
            <a:ext cx="411480" cy="164592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r">
              <a:spcAft>
                <a:spcPts val="400"/>
              </a:spcAft>
              <a:defRPr sz="900" b="0">
                <a:solidFill>
                  <a:srgbClr val="5E6C80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832104"/>
            <a:ext cx="11064240" cy="475488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spcAft>
                <a:spcPts val="400"/>
              </a:spcAft>
              <a:defRPr sz="2700" b="1">
                <a:solidFill>
                  <a:srgbClr val="1C365E"/>
                </a:solidFill>
                <a:latin typeface="Aptos Display"/>
              </a:defRPr>
            </a:pPr>
            <a:r>
              <a:t>Project Overview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316736"/>
            <a:ext cx="10972800" cy="292608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5E6C80"/>
                </a:solidFill>
                <a:latin typeface="Aptos"/>
              </a:defRPr>
            </a:pPr>
            <a:r>
              <a:t>Problem statement, proposed solution and main objectives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828800"/>
            <a:ext cx="3520440" cy="1645920"/>
          </a:xfrm>
          <a:prstGeom prst="roundRect">
            <a:avLst/>
          </a:prstGeom>
          <a:solidFill>
            <a:srgbClr val="F6F8FB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4360" y="1828800"/>
            <a:ext cx="64008" cy="1645920"/>
          </a:xfrm>
          <a:prstGeom prst="rect">
            <a:avLst/>
          </a:prstGeom>
          <a:solidFill>
            <a:srgbClr val="F25B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956816"/>
            <a:ext cx="3200400" cy="292608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1C365E"/>
                </a:solidFill>
                <a:latin typeface="Aptos"/>
              </a:defRPr>
            </a:pPr>
            <a:r>
              <a:t>Problem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313432"/>
            <a:ext cx="3172968" cy="1078992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202834"/>
                </a:solidFill>
                <a:latin typeface="Aptos"/>
              </a:defRPr>
            </a:pPr>
            <a:r>
              <a:t>Analyze multiple patient-related clinical features to classify a record into a target category.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3400" y="1828800"/>
            <a:ext cx="3520440" cy="1645920"/>
          </a:xfrm>
          <a:prstGeom prst="roundRect">
            <a:avLst/>
          </a:prstGeom>
          <a:solidFill>
            <a:srgbClr val="F6F8FB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43400" y="1828800"/>
            <a:ext cx="64008" cy="1645920"/>
          </a:xfrm>
          <a:prstGeom prst="rect">
            <a:avLst/>
          </a:prstGeom>
          <a:solidFill>
            <a:srgbClr val="2F6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26280" y="1956816"/>
            <a:ext cx="3200400" cy="292608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1C365E"/>
                </a:solidFill>
                <a:latin typeface="Aptos"/>
              </a:defRPr>
            </a:pPr>
            <a:r>
              <a:t>Solution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6280" y="2313432"/>
            <a:ext cx="3172968" cy="1078992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202834"/>
                </a:solidFill>
                <a:latin typeface="Aptos"/>
              </a:defRPr>
            </a:pPr>
            <a:r>
              <a:t>Train and compare Linear, Polynomial and RBF Support Vector Machine models.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92440" y="1828800"/>
            <a:ext cx="3520440" cy="1645920"/>
          </a:xfrm>
          <a:prstGeom prst="roundRect">
            <a:avLst/>
          </a:prstGeom>
          <a:solidFill>
            <a:srgbClr val="F6F8FB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92440" y="1828800"/>
            <a:ext cx="64008" cy="1645920"/>
          </a:xfrm>
          <a:prstGeom prst="rect">
            <a:avLst/>
          </a:prstGeom>
          <a:solidFill>
            <a:srgbClr val="2682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75319" y="1956816"/>
            <a:ext cx="3200400" cy="292608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1C365E"/>
                </a:solidFill>
                <a:latin typeface="Aptos"/>
              </a:defRPr>
            </a:pPr>
            <a:r>
              <a:t>Outcome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5319" y="2313432"/>
            <a:ext cx="3172968" cy="1078992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202834"/>
                </a:solidFill>
                <a:latin typeface="Aptos"/>
              </a:defRPr>
            </a:pPr>
            <a:r>
              <a:t>Integrate the selected model into a Gradio website for interactive predictions.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3977639"/>
            <a:ext cx="10607040" cy="36576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1C365E"/>
                </a:solidFill>
                <a:latin typeface="Aptos"/>
              </a:defRPr>
            </a:pPr>
            <a:r>
              <a:t>Objectives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4434840"/>
            <a:ext cx="10789920" cy="160020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spcAft>
                <a:spcPts val="400"/>
              </a:spcAft>
              <a:defRPr sz="1600" b="0">
                <a:solidFill>
                  <a:srgbClr val="202834"/>
                </a:solidFill>
                <a:latin typeface="Aptos"/>
              </a:defRPr>
            </a:pPr>
            <a:r>
              <a:t>•  Prepare and explore the heart disease dataset.</a:t>
            </a:r>
          </a:p>
          <a:p>
            <a:pPr>
              <a:spcAft>
                <a:spcPts val="400"/>
              </a:spcAft>
              <a:defRPr sz="1600" b="0">
                <a:solidFill>
                  <a:srgbClr val="202834"/>
                </a:solidFill>
                <a:latin typeface="Aptos"/>
              </a:defRPr>
            </a:pPr>
            <a:r>
              <a:t>•  Compare model performance using accuracy, precision, recall and F1-score.</a:t>
            </a:r>
          </a:p>
          <a:p>
            <a:pPr>
              <a:spcAft>
                <a:spcPts val="400"/>
              </a:spcAft>
              <a:defRPr sz="1600" b="0">
                <a:solidFill>
                  <a:srgbClr val="202834"/>
                </a:solidFill>
                <a:latin typeface="Aptos"/>
              </a:defRPr>
            </a:pPr>
            <a:r>
              <a:t>•  Provide a simple interface for entering patient features and viewing a prediction.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20040" y="164592"/>
            <a:ext cx="347472" cy="347472"/>
          </a:xfrm>
          <a:prstGeom prst="ellipse">
            <a:avLst/>
          </a:prstGeom>
          <a:solidFill>
            <a:srgbClr val="FFFFFF"/>
          </a:solidFill>
          <a:ln>
            <a:solidFill>
              <a:srgbClr val="2F6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201168"/>
            <a:ext cx="347472" cy="210312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ctr">
              <a:spcAft>
                <a:spcPts val="400"/>
              </a:spcAft>
              <a:defRPr sz="1500" b="1">
                <a:solidFill>
                  <a:srgbClr val="F25B0C"/>
                </a:solidFill>
                <a:latin typeface="Aptos"/>
              </a:defRPr>
            </a:pPr>
            <a: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92024"/>
            <a:ext cx="2743200" cy="27432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1C365E"/>
                </a:solidFill>
                <a:latin typeface="Aptos"/>
              </a:defRPr>
            </a:pPr>
            <a:r>
              <a:t>ADITYA UNIVERSITY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21792"/>
            <a:ext cx="12191695" cy="50292"/>
          </a:xfrm>
          <a:prstGeom prst="rect">
            <a:avLst/>
          </a:prstGeom>
          <a:solidFill>
            <a:srgbClr val="F25B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75720" y="6537960"/>
            <a:ext cx="411480" cy="164592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r">
              <a:spcAft>
                <a:spcPts val="400"/>
              </a:spcAft>
              <a:defRPr sz="900" b="0">
                <a:solidFill>
                  <a:srgbClr val="5E6C80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832104"/>
            <a:ext cx="11064240" cy="475488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spcAft>
                <a:spcPts val="400"/>
              </a:spcAft>
              <a:defRPr sz="2700" b="1">
                <a:solidFill>
                  <a:srgbClr val="1C365E"/>
                </a:solidFill>
                <a:latin typeface="Aptos Display"/>
              </a:defRPr>
            </a:pPr>
            <a:r>
              <a:t>Dataset Description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316736"/>
            <a:ext cx="10972800" cy="292608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5E6C80"/>
                </a:solidFill>
                <a:latin typeface="Aptos"/>
              </a:defRPr>
            </a:pPr>
            <a:r>
              <a:t>Dataset structure and target variable used in the project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2331720" cy="1078992"/>
          </a:xfrm>
          <a:prstGeom prst="roundRect">
            <a:avLst/>
          </a:prstGeom>
          <a:solidFill>
            <a:srgbClr val="F6F8FB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1965960"/>
            <a:ext cx="2176272" cy="384048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ctr">
              <a:spcAft>
                <a:spcPts val="400"/>
              </a:spcAft>
              <a:defRPr sz="2400" b="1">
                <a:solidFill>
                  <a:srgbClr val="F25B0C"/>
                </a:solidFill>
                <a:latin typeface="Aptos"/>
              </a:defRPr>
            </a:pPr>
            <a:r>
              <a:t>3030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2404872"/>
            <a:ext cx="2176272" cy="256032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ctr">
              <a:spcAft>
                <a:spcPts val="400"/>
              </a:spcAft>
              <a:defRPr sz="1100" b="0">
                <a:solidFill>
                  <a:srgbClr val="5E6C80"/>
                </a:solidFill>
                <a:latin typeface="Aptos"/>
              </a:defRPr>
            </a:pPr>
            <a:r>
              <a:t>Initial records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20440" y="1828800"/>
            <a:ext cx="2331720" cy="1078992"/>
          </a:xfrm>
          <a:prstGeom prst="roundRect">
            <a:avLst/>
          </a:prstGeom>
          <a:solidFill>
            <a:srgbClr val="F6F8FB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93592" y="1965960"/>
            <a:ext cx="2176272" cy="384048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ctr">
              <a:spcAft>
                <a:spcPts val="400"/>
              </a:spcAft>
              <a:defRPr sz="2400" b="1">
                <a:solidFill>
                  <a:srgbClr val="2F68A6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93592" y="2404872"/>
            <a:ext cx="2176272" cy="256032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ctr">
              <a:spcAft>
                <a:spcPts val="400"/>
              </a:spcAft>
              <a:defRPr sz="1100" b="0">
                <a:solidFill>
                  <a:srgbClr val="5E6C80"/>
                </a:solidFill>
                <a:latin typeface="Aptos"/>
              </a:defRPr>
            </a:pPr>
            <a:r>
              <a:t>Total columns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1828800"/>
            <a:ext cx="2331720" cy="1078992"/>
          </a:xfrm>
          <a:prstGeom prst="roundRect">
            <a:avLst/>
          </a:prstGeom>
          <a:solidFill>
            <a:srgbClr val="F6F8FB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82512" y="1965960"/>
            <a:ext cx="2176272" cy="384048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ctr">
              <a:spcAft>
                <a:spcPts val="400"/>
              </a:spcAft>
              <a:defRPr sz="2400" b="1">
                <a:solidFill>
                  <a:srgbClr val="26825B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82512" y="2404872"/>
            <a:ext cx="2176272" cy="256032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ctr">
              <a:spcAft>
                <a:spcPts val="400"/>
              </a:spcAft>
              <a:defRPr sz="1100" b="0">
                <a:solidFill>
                  <a:srgbClr val="5E6C80"/>
                </a:solidFill>
                <a:latin typeface="Aptos"/>
              </a:defRPr>
            </a:pPr>
            <a:r>
              <a:t>Input features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98280" y="1828800"/>
            <a:ext cx="2331720" cy="1078992"/>
          </a:xfrm>
          <a:prstGeom prst="roundRect">
            <a:avLst/>
          </a:prstGeom>
          <a:solidFill>
            <a:srgbClr val="F6F8FB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71432" y="1965960"/>
            <a:ext cx="2176272" cy="384048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ctr">
              <a:spcAft>
                <a:spcPts val="400"/>
              </a:spcAft>
              <a:defRPr sz="2400" b="1">
                <a:solidFill>
                  <a:srgbClr val="F25B0C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71432" y="2404872"/>
            <a:ext cx="2176272" cy="256032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ctr">
              <a:spcAft>
                <a:spcPts val="400"/>
              </a:spcAft>
              <a:defRPr sz="1100" b="0">
                <a:solidFill>
                  <a:srgbClr val="5E6C80"/>
                </a:solidFill>
                <a:latin typeface="Aptos"/>
              </a:defRPr>
            </a:pPr>
            <a:r>
              <a:t>Target column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3383280"/>
            <a:ext cx="5120640" cy="32004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spcAft>
                <a:spcPts val="400"/>
              </a:spcAft>
              <a:defRPr sz="1700" b="1">
                <a:solidFill>
                  <a:srgbClr val="1C365E"/>
                </a:solidFill>
                <a:latin typeface="Aptos"/>
              </a:defRPr>
            </a:pPr>
            <a:r>
              <a:t>Input features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3794760"/>
            <a:ext cx="5212080" cy="109728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spcAft>
                <a:spcPts val="400"/>
              </a:spcAft>
              <a:defRPr sz="1500" b="0">
                <a:solidFill>
                  <a:srgbClr val="202834"/>
                </a:solidFill>
                <a:latin typeface="Aptos"/>
              </a:defRPr>
            </a:pPr>
            <a:r>
              <a:t>age, sex, cp, trestbps, chol, fbs, restecg,</a:t>
            </a:r>
          </a:p>
          <a:p>
            <a:pPr>
              <a:spcAft>
                <a:spcPts val="400"/>
              </a:spcAft>
              <a:defRPr sz="1500" b="0">
                <a:solidFill>
                  <a:srgbClr val="202834"/>
                </a:solidFill>
                <a:latin typeface="Aptos"/>
              </a:defRPr>
            </a:pPr>
            <a:r>
              <a:t>thalach, exang, oldpeak, slope, ca, thal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3383280"/>
            <a:ext cx="4937760" cy="32004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spcAft>
                <a:spcPts val="400"/>
              </a:spcAft>
              <a:defRPr sz="1700" b="1">
                <a:solidFill>
                  <a:srgbClr val="1C365E"/>
                </a:solidFill>
                <a:latin typeface="Aptos"/>
              </a:defRPr>
            </a:pPr>
            <a:r>
              <a:t>Target variable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63640" y="3794760"/>
            <a:ext cx="4937760" cy="105156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spcAft>
                <a:spcPts val="400"/>
              </a:spcAft>
              <a:defRPr sz="1600" b="0">
                <a:solidFill>
                  <a:srgbClr val="202834"/>
                </a:solidFill>
                <a:latin typeface="Aptos"/>
              </a:defRPr>
            </a:pPr>
            <a:r>
              <a:t>target</a:t>
            </a:r>
          </a:p>
          <a:p>
            <a:pPr>
              <a:spcAft>
                <a:spcPts val="400"/>
              </a:spcAft>
              <a:defRPr sz="1600" b="0">
                <a:solidFill>
                  <a:srgbClr val="202834"/>
                </a:solidFill>
                <a:latin typeface="Aptos"/>
              </a:defRPr>
            </a:pPr>
            <a:r>
              <a:t>0 = No heart disease</a:t>
            </a:r>
          </a:p>
          <a:p>
            <a:pPr>
              <a:spcAft>
                <a:spcPts val="400"/>
              </a:spcAft>
              <a:defRPr sz="1600" b="0">
                <a:solidFill>
                  <a:srgbClr val="202834"/>
                </a:solidFill>
                <a:latin typeface="Aptos"/>
              </a:defRPr>
            </a:pPr>
            <a:r>
              <a:t>1 = Heart disease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5440680"/>
            <a:ext cx="10789920" cy="50292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spcAft>
                <a:spcPts val="400"/>
              </a:spcAft>
              <a:defRPr sz="1300" b="0">
                <a:solidFill>
                  <a:srgbClr val="5E6C80"/>
                </a:solidFill>
                <a:latin typeface="Aptos"/>
              </a:defRPr>
            </a:pPr>
            <a:r>
              <a:t>Initial dataset checks: 559 missing values across columns; 1 duplicate row(s) identified.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20040" y="164592"/>
            <a:ext cx="347472" cy="347472"/>
          </a:xfrm>
          <a:prstGeom prst="ellipse">
            <a:avLst/>
          </a:prstGeom>
          <a:solidFill>
            <a:srgbClr val="FFFFFF"/>
          </a:solidFill>
          <a:ln>
            <a:solidFill>
              <a:srgbClr val="2F6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201168"/>
            <a:ext cx="347472" cy="210312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ctr">
              <a:spcAft>
                <a:spcPts val="400"/>
              </a:spcAft>
              <a:defRPr sz="1500" b="1">
                <a:solidFill>
                  <a:srgbClr val="F25B0C"/>
                </a:solidFill>
                <a:latin typeface="Aptos"/>
              </a:defRPr>
            </a:pPr>
            <a: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92024"/>
            <a:ext cx="2743200" cy="27432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1C365E"/>
                </a:solidFill>
                <a:latin typeface="Aptos"/>
              </a:defRPr>
            </a:pPr>
            <a:r>
              <a:t>ADITYA UNIVERSITY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21792"/>
            <a:ext cx="12191695" cy="50292"/>
          </a:xfrm>
          <a:prstGeom prst="rect">
            <a:avLst/>
          </a:prstGeom>
          <a:solidFill>
            <a:srgbClr val="F25B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75720" y="6537960"/>
            <a:ext cx="411480" cy="164592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r">
              <a:spcAft>
                <a:spcPts val="400"/>
              </a:spcAft>
              <a:defRPr sz="900" b="0">
                <a:solidFill>
                  <a:srgbClr val="5E6C80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832104"/>
            <a:ext cx="11064240" cy="475488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spcAft>
                <a:spcPts val="400"/>
              </a:spcAft>
              <a:defRPr sz="2700" b="1">
                <a:solidFill>
                  <a:srgbClr val="1C365E"/>
                </a:solidFill>
                <a:latin typeface="Aptos Display"/>
              </a:defRPr>
            </a:pPr>
            <a:r>
              <a:t>Data Preprocessing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316736"/>
            <a:ext cx="10972800" cy="292608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5E6C80"/>
                </a:solidFill>
                <a:latin typeface="Aptos"/>
              </a:defRPr>
            </a:pPr>
            <a:r>
              <a:t>Steps used to prepare the data before model training</a:t>
            </a:r>
          </a:p>
        </p:txBody>
      </p:sp>
      <p:sp>
        <p:nvSpPr>
          <p:cNvPr id="9" name="Oval 8"/>
          <p:cNvSpPr/>
          <p:nvPr/>
        </p:nvSpPr>
        <p:spPr>
          <a:xfrm>
            <a:off x="749808" y="1719072"/>
            <a:ext cx="493776" cy="493776"/>
          </a:xfrm>
          <a:prstGeom prst="ellipse">
            <a:avLst/>
          </a:prstGeom>
          <a:solidFill>
            <a:srgbClr val="F25B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1837943"/>
            <a:ext cx="457200" cy="201168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ctr">
              <a:spcAft>
                <a:spcPts val="400"/>
              </a:spcAft>
              <a:defRPr sz="1100" b="1">
                <a:solidFill>
                  <a:srgbClr val="FFFF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44752" y="1719072"/>
            <a:ext cx="1325880" cy="292608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1C365E"/>
                </a:solidFill>
                <a:latin typeface="Aptos"/>
              </a:defRPr>
            </a:pPr>
            <a:r>
              <a:t>Inspect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1719072"/>
            <a:ext cx="8686800" cy="521207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202834"/>
                </a:solidFill>
                <a:latin typeface="Aptos"/>
              </a:defRPr>
            </a:pPr>
            <a:r>
              <a:t>Check dataset shape, columns, data types, summary statistics and target distribution.</a:t>
            </a:r>
          </a:p>
        </p:txBody>
      </p:sp>
      <p:sp>
        <p:nvSpPr>
          <p:cNvPr id="13" name="Oval 12"/>
          <p:cNvSpPr/>
          <p:nvPr/>
        </p:nvSpPr>
        <p:spPr>
          <a:xfrm>
            <a:off x="749808" y="2569464"/>
            <a:ext cx="493776" cy="493776"/>
          </a:xfrm>
          <a:prstGeom prst="ellipse">
            <a:avLst/>
          </a:prstGeom>
          <a:solidFill>
            <a:srgbClr val="2F6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8096" y="2688336"/>
            <a:ext cx="457200" cy="201168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ctr">
              <a:spcAft>
                <a:spcPts val="400"/>
              </a:spcAft>
              <a:defRPr sz="1100" b="1">
                <a:solidFill>
                  <a:srgbClr val="FFFF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44752" y="2569464"/>
            <a:ext cx="1325880" cy="292608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1C365E"/>
                </a:solidFill>
                <a:latin typeface="Aptos"/>
              </a:defRPr>
            </a:pPr>
            <a:r>
              <a:t>Clean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0" y="2569464"/>
            <a:ext cx="8686800" cy="521207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202834"/>
                </a:solidFill>
                <a:latin typeface="Aptos"/>
              </a:defRPr>
            </a:pPr>
            <a:r>
              <a:t>Remove duplicate records and impute missing input values using median values.</a:t>
            </a:r>
          </a:p>
        </p:txBody>
      </p:sp>
      <p:sp>
        <p:nvSpPr>
          <p:cNvPr id="17" name="Oval 16"/>
          <p:cNvSpPr/>
          <p:nvPr/>
        </p:nvSpPr>
        <p:spPr>
          <a:xfrm>
            <a:off x="749808" y="3419856"/>
            <a:ext cx="493776" cy="493776"/>
          </a:xfrm>
          <a:prstGeom prst="ellipse">
            <a:avLst/>
          </a:prstGeom>
          <a:solidFill>
            <a:srgbClr val="F25B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8096" y="3538728"/>
            <a:ext cx="457200" cy="201168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ctr">
              <a:spcAft>
                <a:spcPts val="400"/>
              </a:spcAft>
              <a:defRPr sz="1100" b="1">
                <a:solidFill>
                  <a:srgbClr val="FFFFF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44752" y="3419856"/>
            <a:ext cx="1325880" cy="292608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1C365E"/>
                </a:solidFill>
                <a:latin typeface="Aptos"/>
              </a:defRPr>
            </a:pPr>
            <a:r>
              <a:t>Explore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0" y="3419856"/>
            <a:ext cx="8686800" cy="521207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202834"/>
                </a:solidFill>
                <a:latin typeface="Aptos"/>
              </a:defRPr>
            </a:pPr>
            <a:r>
              <a:t>Review class distribution, feature distributions, potential outliers and correlations.</a:t>
            </a:r>
          </a:p>
        </p:txBody>
      </p:sp>
      <p:sp>
        <p:nvSpPr>
          <p:cNvPr id="21" name="Oval 20"/>
          <p:cNvSpPr/>
          <p:nvPr/>
        </p:nvSpPr>
        <p:spPr>
          <a:xfrm>
            <a:off x="749808" y="4270248"/>
            <a:ext cx="493776" cy="493776"/>
          </a:xfrm>
          <a:prstGeom prst="ellipse">
            <a:avLst/>
          </a:prstGeom>
          <a:solidFill>
            <a:srgbClr val="2F6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8096" y="4389120"/>
            <a:ext cx="457200" cy="201168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ctr">
              <a:spcAft>
                <a:spcPts val="400"/>
              </a:spcAft>
              <a:defRPr sz="1100" b="1">
                <a:solidFill>
                  <a:srgbClr val="FFFFF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44752" y="4270248"/>
            <a:ext cx="1325880" cy="292608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1C365E"/>
                </a:solidFill>
                <a:latin typeface="Aptos"/>
              </a:defRPr>
            </a:pPr>
            <a:r>
              <a:t>Split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0" y="4270248"/>
            <a:ext cx="8686800" cy="521207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202834"/>
                </a:solidFill>
                <a:latin typeface="Aptos"/>
              </a:defRPr>
            </a:pPr>
            <a:r>
              <a:t>Use an 80:20 stratified train-test split.</a:t>
            </a:r>
          </a:p>
        </p:txBody>
      </p:sp>
      <p:sp>
        <p:nvSpPr>
          <p:cNvPr id="25" name="Oval 24"/>
          <p:cNvSpPr/>
          <p:nvPr/>
        </p:nvSpPr>
        <p:spPr>
          <a:xfrm>
            <a:off x="749808" y="5120640"/>
            <a:ext cx="493776" cy="493776"/>
          </a:xfrm>
          <a:prstGeom prst="ellipse">
            <a:avLst/>
          </a:prstGeom>
          <a:solidFill>
            <a:srgbClr val="F25B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68096" y="5239512"/>
            <a:ext cx="457200" cy="201168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ctr">
              <a:spcAft>
                <a:spcPts val="400"/>
              </a:spcAft>
              <a:defRPr sz="1100" b="1">
                <a:solidFill>
                  <a:srgbClr val="FFFFFF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44752" y="5120640"/>
            <a:ext cx="1325880" cy="292608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1C365E"/>
                </a:solidFill>
                <a:latin typeface="Aptos"/>
              </a:defRPr>
            </a:pPr>
            <a:r>
              <a:t>Scale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43200" y="5120640"/>
            <a:ext cx="8686800" cy="521207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202834"/>
                </a:solidFill>
                <a:latin typeface="Aptos"/>
              </a:defRPr>
            </a:pPr>
            <a:r>
              <a:t>Apply StandardScaler to standardize features before SVM training.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20040" y="164592"/>
            <a:ext cx="347472" cy="347472"/>
          </a:xfrm>
          <a:prstGeom prst="ellipse">
            <a:avLst/>
          </a:prstGeom>
          <a:solidFill>
            <a:srgbClr val="FFFFFF"/>
          </a:solidFill>
          <a:ln>
            <a:solidFill>
              <a:srgbClr val="2F6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201168"/>
            <a:ext cx="347472" cy="210312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ctr">
              <a:spcAft>
                <a:spcPts val="400"/>
              </a:spcAft>
              <a:defRPr sz="1500" b="1">
                <a:solidFill>
                  <a:srgbClr val="F25B0C"/>
                </a:solidFill>
                <a:latin typeface="Aptos"/>
              </a:defRPr>
            </a:pPr>
            <a: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92024"/>
            <a:ext cx="2743200" cy="27432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1C365E"/>
                </a:solidFill>
                <a:latin typeface="Aptos"/>
              </a:defRPr>
            </a:pPr>
            <a:r>
              <a:t>ADITYA UNIVERSITY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21792"/>
            <a:ext cx="12191695" cy="50292"/>
          </a:xfrm>
          <a:prstGeom prst="rect">
            <a:avLst/>
          </a:prstGeom>
          <a:solidFill>
            <a:srgbClr val="F25B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75720" y="6537960"/>
            <a:ext cx="411480" cy="164592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r">
              <a:spcAft>
                <a:spcPts val="400"/>
              </a:spcAft>
              <a:defRPr sz="900" b="0">
                <a:solidFill>
                  <a:srgbClr val="5E6C80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832104"/>
            <a:ext cx="11064240" cy="475488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spcAft>
                <a:spcPts val="400"/>
              </a:spcAft>
              <a:defRPr sz="2700" b="1">
                <a:solidFill>
                  <a:srgbClr val="1C365E"/>
                </a:solidFill>
                <a:latin typeface="Aptos Display"/>
              </a:defRPr>
            </a:pPr>
            <a:r>
              <a:t>Project Workflow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316736"/>
            <a:ext cx="10972800" cy="292608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5E6C80"/>
                </a:solidFill>
                <a:latin typeface="Aptos"/>
              </a:defRPr>
            </a:pPr>
            <a:r>
              <a:t>End-to-end flow from raw data to web prediction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651760"/>
            <a:ext cx="1874519" cy="1051560"/>
          </a:xfrm>
          <a:prstGeom prst="roundRect">
            <a:avLst/>
          </a:prstGeom>
          <a:solidFill>
            <a:srgbClr val="2F6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6072" y="2880360"/>
            <a:ext cx="1728216" cy="566928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ctr">
              <a:spcAft>
                <a:spcPts val="400"/>
              </a:spcAft>
              <a:defRPr sz="1600" b="1">
                <a:solidFill>
                  <a:srgbClr val="FFFFFF"/>
                </a:solidFill>
                <a:latin typeface="Aptos"/>
              </a:defRPr>
            </a:pPr>
            <a:r>
              <a:t>Dataset</a:t>
            </a:r>
          </a:p>
          <a:p>
            <a:pPr algn="ctr">
              <a:spcAft>
                <a:spcPts val="400"/>
              </a:spcAft>
              <a:defRPr sz="1600" b="1">
                <a:solidFill>
                  <a:srgbClr val="FFFFFF"/>
                </a:solidFill>
                <a:latin typeface="Aptos"/>
              </a:defRPr>
            </a:pPr>
            <a:r>
              <a:t>CSV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88920" y="2651760"/>
            <a:ext cx="1874519" cy="1051560"/>
          </a:xfrm>
          <a:prstGeom prst="roundRect">
            <a:avLst/>
          </a:prstGeom>
          <a:solidFill>
            <a:srgbClr val="F25B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62072" y="2880360"/>
            <a:ext cx="1728216" cy="566928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ctr">
              <a:spcAft>
                <a:spcPts val="400"/>
              </a:spcAft>
              <a:defRPr sz="1600" b="1">
                <a:solidFill>
                  <a:srgbClr val="FFFFFF"/>
                </a:solidFill>
                <a:latin typeface="Aptos"/>
              </a:defRPr>
            </a:pPr>
            <a:r>
              <a:t>Preprocessing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74920" y="2651760"/>
            <a:ext cx="1874519" cy="1051560"/>
          </a:xfrm>
          <a:prstGeom prst="roundRect">
            <a:avLst/>
          </a:prstGeom>
          <a:solidFill>
            <a:srgbClr val="2F6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48072" y="2880360"/>
            <a:ext cx="1728216" cy="566928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ctr">
              <a:spcAft>
                <a:spcPts val="400"/>
              </a:spcAft>
              <a:defRPr sz="1600" b="1">
                <a:solidFill>
                  <a:srgbClr val="FFFFFF"/>
                </a:solidFill>
                <a:latin typeface="Aptos"/>
              </a:defRPr>
            </a:pPr>
            <a:r>
              <a:t>Train-test</a:t>
            </a:r>
          </a:p>
          <a:p>
            <a:pPr algn="ctr">
              <a:spcAft>
                <a:spcPts val="400"/>
              </a:spcAft>
              <a:defRPr sz="1600" b="1">
                <a:solidFill>
                  <a:srgbClr val="FFFFFF"/>
                </a:solidFill>
                <a:latin typeface="Aptos"/>
              </a:defRPr>
            </a:pPr>
            <a:r>
              <a:t>split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60920" y="2651760"/>
            <a:ext cx="1874519" cy="1051560"/>
          </a:xfrm>
          <a:prstGeom prst="roundRect">
            <a:avLst/>
          </a:prstGeom>
          <a:solidFill>
            <a:srgbClr val="F25B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34072" y="2880360"/>
            <a:ext cx="1728216" cy="566928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ctr">
              <a:spcAft>
                <a:spcPts val="400"/>
              </a:spcAft>
              <a:defRPr sz="1600" b="1">
                <a:solidFill>
                  <a:srgbClr val="FFFFFF"/>
                </a:solidFill>
                <a:latin typeface="Aptos"/>
              </a:defRPr>
            </a:pPr>
            <a:r>
              <a:t>SVM model</a:t>
            </a:r>
          </a:p>
          <a:p>
            <a:pPr algn="ctr">
              <a:spcAft>
                <a:spcPts val="400"/>
              </a:spcAft>
              <a:defRPr sz="1600" b="1">
                <a:solidFill>
                  <a:srgbClr val="FFFFFF"/>
                </a:solidFill>
                <a:latin typeface="Aptos"/>
              </a:defRPr>
            </a:pPr>
            <a:r>
              <a:t>training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46920" y="2651760"/>
            <a:ext cx="1874519" cy="1051560"/>
          </a:xfrm>
          <a:prstGeom prst="roundRect">
            <a:avLst/>
          </a:prstGeom>
          <a:solidFill>
            <a:srgbClr val="2682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20072" y="2880360"/>
            <a:ext cx="1728216" cy="566928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ctr">
              <a:spcAft>
                <a:spcPts val="400"/>
              </a:spcAft>
              <a:defRPr sz="1600" b="1">
                <a:solidFill>
                  <a:srgbClr val="FFFFFF"/>
                </a:solidFill>
                <a:latin typeface="Aptos"/>
              </a:defRPr>
            </a:pPr>
            <a:r>
              <a:t>Gradio</a:t>
            </a:r>
          </a:p>
          <a:p>
            <a:pPr algn="ctr">
              <a:spcAft>
                <a:spcPts val="400"/>
              </a:spcAft>
              <a:defRPr sz="1600" b="1">
                <a:solidFill>
                  <a:srgbClr val="FFFFFF"/>
                </a:solidFill>
                <a:latin typeface="Aptos"/>
              </a:defRPr>
            </a:pPr>
            <a:r>
              <a:t>website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377439" y="3172968"/>
            <a:ext cx="365761" cy="0"/>
          </a:xfrm>
          <a:prstGeom prst="line">
            <a:avLst/>
          </a:prstGeom>
          <a:ln w="25400">
            <a:solidFill>
              <a:srgbClr val="5E6C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663440" y="3172968"/>
            <a:ext cx="365760" cy="0"/>
          </a:xfrm>
          <a:prstGeom prst="line">
            <a:avLst/>
          </a:prstGeom>
          <a:ln w="25400">
            <a:solidFill>
              <a:srgbClr val="5E6C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6949440" y="3172968"/>
            <a:ext cx="365760" cy="0"/>
          </a:xfrm>
          <a:prstGeom prst="line">
            <a:avLst/>
          </a:prstGeom>
          <a:ln w="25400">
            <a:solidFill>
              <a:srgbClr val="5E6C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9235440" y="3172968"/>
            <a:ext cx="365760" cy="0"/>
          </a:xfrm>
          <a:prstGeom prst="line">
            <a:avLst/>
          </a:prstGeom>
          <a:ln w="25400">
            <a:solidFill>
              <a:srgbClr val="5E6C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960120" y="4343400"/>
            <a:ext cx="10241280" cy="82296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ctr">
              <a:spcAft>
                <a:spcPts val="400"/>
              </a:spcAft>
              <a:defRPr sz="1600" b="1">
                <a:solidFill>
                  <a:srgbClr val="1C365E"/>
                </a:solidFill>
                <a:latin typeface="Aptos"/>
              </a:defRPr>
            </a:pPr>
            <a:r>
              <a:t>The fitted scaler and selected classifier must be reused in the website with the same 13-feature order used during training.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20040" y="164592"/>
            <a:ext cx="347472" cy="347472"/>
          </a:xfrm>
          <a:prstGeom prst="ellipse">
            <a:avLst/>
          </a:prstGeom>
          <a:solidFill>
            <a:srgbClr val="FFFFFF"/>
          </a:solidFill>
          <a:ln>
            <a:solidFill>
              <a:srgbClr val="2F6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201168"/>
            <a:ext cx="347472" cy="210312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ctr">
              <a:spcAft>
                <a:spcPts val="400"/>
              </a:spcAft>
              <a:defRPr sz="1500" b="1">
                <a:solidFill>
                  <a:srgbClr val="F25B0C"/>
                </a:solidFill>
                <a:latin typeface="Aptos"/>
              </a:defRPr>
            </a:pPr>
            <a: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92024"/>
            <a:ext cx="2743200" cy="27432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1C365E"/>
                </a:solidFill>
                <a:latin typeface="Aptos"/>
              </a:defRPr>
            </a:pPr>
            <a:r>
              <a:t>ADITYA UNIVERSITY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21792"/>
            <a:ext cx="12191695" cy="50292"/>
          </a:xfrm>
          <a:prstGeom prst="rect">
            <a:avLst/>
          </a:prstGeom>
          <a:solidFill>
            <a:srgbClr val="F25B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75720" y="6537960"/>
            <a:ext cx="411480" cy="164592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r">
              <a:spcAft>
                <a:spcPts val="400"/>
              </a:spcAft>
              <a:defRPr sz="900" b="0">
                <a:solidFill>
                  <a:srgbClr val="5E6C80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832104"/>
            <a:ext cx="11064240" cy="475488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spcAft>
                <a:spcPts val="400"/>
              </a:spcAft>
              <a:defRPr sz="2700" b="1">
                <a:solidFill>
                  <a:srgbClr val="1C365E"/>
                </a:solidFill>
                <a:latin typeface="Aptos Display"/>
              </a:defRPr>
            </a:pPr>
            <a:r>
              <a:t>SVM Model Development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316736"/>
            <a:ext cx="10972800" cy="292608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5E6C80"/>
                </a:solidFill>
                <a:latin typeface="Aptos"/>
              </a:defRPr>
            </a:pPr>
            <a:r>
              <a:t>Three kernel types are trained and compared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874519"/>
            <a:ext cx="3520440" cy="2286000"/>
          </a:xfrm>
          <a:prstGeom prst="roundRect">
            <a:avLst/>
          </a:prstGeom>
          <a:solidFill>
            <a:srgbClr val="F6F8FB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4360" y="1874519"/>
            <a:ext cx="64008" cy="2286000"/>
          </a:xfrm>
          <a:prstGeom prst="rect">
            <a:avLst/>
          </a:prstGeom>
          <a:solidFill>
            <a:srgbClr val="2F6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002536"/>
            <a:ext cx="3200400" cy="292608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1C365E"/>
                </a:solidFill>
                <a:latin typeface="Aptos"/>
              </a:defRPr>
            </a:pPr>
            <a:r>
              <a:t>Linear SVM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359152"/>
            <a:ext cx="3172968" cy="1719072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spcAft>
                <a:spcPts val="400"/>
              </a:spcAft>
              <a:defRPr sz="1500" b="0">
                <a:solidFill>
                  <a:srgbClr val="202834"/>
                </a:solidFill>
                <a:latin typeface="Aptos"/>
              </a:defRPr>
            </a:pPr>
            <a:r>
              <a:t>Creates a linear decision boundary. It serves as the baseline model for comparison.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3400" y="1874519"/>
            <a:ext cx="3520440" cy="2286000"/>
          </a:xfrm>
          <a:prstGeom prst="roundRect">
            <a:avLst/>
          </a:prstGeom>
          <a:solidFill>
            <a:srgbClr val="F6F8FB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43400" y="1874519"/>
            <a:ext cx="64008" cy="2286000"/>
          </a:xfrm>
          <a:prstGeom prst="rect">
            <a:avLst/>
          </a:prstGeom>
          <a:solidFill>
            <a:srgbClr val="F25B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26280" y="2002536"/>
            <a:ext cx="3200400" cy="292608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1C365E"/>
                </a:solidFill>
                <a:latin typeface="Aptos"/>
              </a:defRPr>
            </a:pPr>
            <a:r>
              <a:t>Polynomial SVM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6280" y="2359152"/>
            <a:ext cx="3172968" cy="1719072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spcAft>
                <a:spcPts val="400"/>
              </a:spcAft>
              <a:defRPr sz="1500" b="0">
                <a:solidFill>
                  <a:srgbClr val="202834"/>
                </a:solidFill>
                <a:latin typeface="Aptos"/>
              </a:defRPr>
            </a:pPr>
            <a:r>
              <a:t>Uses a polynomial kernel to represent nonlinear relationships between input features.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92440" y="1874519"/>
            <a:ext cx="3520440" cy="2286000"/>
          </a:xfrm>
          <a:prstGeom prst="roundRect">
            <a:avLst/>
          </a:prstGeom>
          <a:solidFill>
            <a:srgbClr val="F6F8FB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92440" y="1874519"/>
            <a:ext cx="64008" cy="2286000"/>
          </a:xfrm>
          <a:prstGeom prst="rect">
            <a:avLst/>
          </a:prstGeom>
          <a:solidFill>
            <a:srgbClr val="2682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75319" y="2002536"/>
            <a:ext cx="3200400" cy="292608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1C365E"/>
                </a:solidFill>
                <a:latin typeface="Aptos"/>
              </a:defRPr>
            </a:pPr>
            <a:r>
              <a:t>RBF SVM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5319" y="2359152"/>
            <a:ext cx="3172968" cy="1719072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spcAft>
                <a:spcPts val="400"/>
              </a:spcAft>
              <a:defRPr sz="1500" b="0">
                <a:solidFill>
                  <a:srgbClr val="202834"/>
                </a:solidFill>
                <a:latin typeface="Aptos"/>
              </a:defRPr>
            </a:pPr>
            <a:r>
              <a:t>Uses a radial basis function kernel to learn more complex nonlinear patterns.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4800600"/>
            <a:ext cx="10515600" cy="59436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ctr">
              <a:spcAft>
                <a:spcPts val="400"/>
              </a:spcAft>
              <a:defRPr sz="1700" b="1">
                <a:solidFill>
                  <a:srgbClr val="1C365E"/>
                </a:solidFill>
                <a:latin typeface="Aptos"/>
              </a:defRPr>
            </a:pPr>
            <a:r>
              <a:t>SVM aims to find a decision boundary that separates the target classes using the supplied features.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20040" y="164592"/>
            <a:ext cx="347472" cy="347472"/>
          </a:xfrm>
          <a:prstGeom prst="ellipse">
            <a:avLst/>
          </a:prstGeom>
          <a:solidFill>
            <a:srgbClr val="FFFFFF"/>
          </a:solidFill>
          <a:ln>
            <a:solidFill>
              <a:srgbClr val="2F6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201168"/>
            <a:ext cx="347472" cy="210312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ctr">
              <a:spcAft>
                <a:spcPts val="400"/>
              </a:spcAft>
              <a:defRPr sz="1500" b="1">
                <a:solidFill>
                  <a:srgbClr val="F25B0C"/>
                </a:solidFill>
                <a:latin typeface="Aptos"/>
              </a:defRPr>
            </a:pPr>
            <a: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92024"/>
            <a:ext cx="2743200" cy="27432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1C365E"/>
                </a:solidFill>
                <a:latin typeface="Aptos"/>
              </a:defRPr>
            </a:pPr>
            <a:r>
              <a:t>ADITYA UNIVERSITY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21792"/>
            <a:ext cx="12191695" cy="50292"/>
          </a:xfrm>
          <a:prstGeom prst="rect">
            <a:avLst/>
          </a:prstGeom>
          <a:solidFill>
            <a:srgbClr val="F25B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75720" y="6537960"/>
            <a:ext cx="411480" cy="164592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r">
              <a:spcAft>
                <a:spcPts val="400"/>
              </a:spcAft>
              <a:defRPr sz="900" b="0">
                <a:solidFill>
                  <a:srgbClr val="5E6C80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832104"/>
            <a:ext cx="11064240" cy="475488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spcAft>
                <a:spcPts val="400"/>
              </a:spcAft>
              <a:defRPr sz="2700" b="1">
                <a:solidFill>
                  <a:srgbClr val="1C365E"/>
                </a:solidFill>
                <a:latin typeface="Aptos Display"/>
              </a:defRPr>
            </a:pPr>
            <a:r>
              <a:t>Model Evaluation Metrics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316736"/>
            <a:ext cx="10972800" cy="292608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5E6C80"/>
                </a:solidFill>
                <a:latin typeface="Aptos"/>
              </a:defRPr>
            </a:pPr>
            <a:r>
              <a:t>How the classifiers are compared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828800"/>
            <a:ext cx="5257800" cy="1325880"/>
          </a:xfrm>
          <a:prstGeom prst="roundRect">
            <a:avLst/>
          </a:prstGeom>
          <a:solidFill>
            <a:srgbClr val="F6F8FB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828800"/>
            <a:ext cx="64008" cy="1325880"/>
          </a:xfrm>
          <a:prstGeom prst="rect">
            <a:avLst/>
          </a:prstGeom>
          <a:solidFill>
            <a:srgbClr val="F25B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956816"/>
            <a:ext cx="4937760" cy="292608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1C365E"/>
                </a:solidFill>
                <a:latin typeface="Aptos"/>
              </a:defRPr>
            </a:pPr>
            <a:r>
              <a:t>Accuracy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313432"/>
            <a:ext cx="4910328" cy="758952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202834"/>
                </a:solidFill>
                <a:latin typeface="Aptos"/>
              </a:defRPr>
            </a:pPr>
            <a:r>
              <a:t>Fraction of all predictions that are correct.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828800"/>
            <a:ext cx="5257800" cy="1325880"/>
          </a:xfrm>
          <a:prstGeom prst="roundRect">
            <a:avLst/>
          </a:prstGeom>
          <a:solidFill>
            <a:srgbClr val="F6F8FB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1828800"/>
            <a:ext cx="64008" cy="1325880"/>
          </a:xfrm>
          <a:prstGeom prst="rect">
            <a:avLst/>
          </a:prstGeom>
          <a:solidFill>
            <a:srgbClr val="2F6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956816"/>
            <a:ext cx="4937760" cy="292608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1C365E"/>
                </a:solidFill>
                <a:latin typeface="Aptos"/>
              </a:defRPr>
            </a:pPr>
            <a:r>
              <a:t>Precision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313432"/>
            <a:ext cx="4910328" cy="758952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202834"/>
                </a:solidFill>
                <a:latin typeface="Aptos"/>
              </a:defRPr>
            </a:pPr>
            <a:r>
              <a:t>Of the cases predicted positive, how many are truly positive.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474720"/>
            <a:ext cx="5257800" cy="1325880"/>
          </a:xfrm>
          <a:prstGeom prst="roundRect">
            <a:avLst/>
          </a:prstGeom>
          <a:solidFill>
            <a:srgbClr val="F6F8FB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85800" y="3474720"/>
            <a:ext cx="64008" cy="1325880"/>
          </a:xfrm>
          <a:prstGeom prst="rect">
            <a:avLst/>
          </a:prstGeom>
          <a:solidFill>
            <a:srgbClr val="2682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3602736"/>
            <a:ext cx="4937760" cy="292608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1C365E"/>
                </a:solidFill>
                <a:latin typeface="Aptos"/>
              </a:defRPr>
            </a:pPr>
            <a:r>
              <a:t>Recall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3959352"/>
            <a:ext cx="4910328" cy="758952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202834"/>
                </a:solidFill>
                <a:latin typeface="Aptos"/>
              </a:defRPr>
            </a:pPr>
            <a:r>
              <a:t>Of the actual positive cases, how many the model identifies.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474720"/>
            <a:ext cx="5257800" cy="1325880"/>
          </a:xfrm>
          <a:prstGeom prst="roundRect">
            <a:avLst/>
          </a:prstGeom>
          <a:solidFill>
            <a:srgbClr val="F6F8FB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17920" y="3474720"/>
            <a:ext cx="64008" cy="1325880"/>
          </a:xfrm>
          <a:prstGeom prst="rect">
            <a:avLst/>
          </a:prstGeom>
          <a:solidFill>
            <a:srgbClr val="F25B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3602736"/>
            <a:ext cx="4937760" cy="292608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1C365E"/>
                </a:solidFill>
                <a:latin typeface="Aptos"/>
              </a:defRPr>
            </a:pPr>
            <a:r>
              <a:t>F1-score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3959352"/>
            <a:ext cx="4910328" cy="758952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202834"/>
                </a:solidFill>
                <a:latin typeface="Aptos"/>
              </a:defRPr>
            </a:pPr>
            <a:r>
              <a:t>Harmonic mean of precision and recall.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257800"/>
            <a:ext cx="10332720" cy="50292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ctr">
              <a:spcAft>
                <a:spcPts val="400"/>
              </a:spcAft>
              <a:defRPr sz="1500" b="0">
                <a:solidFill>
                  <a:srgbClr val="5E6C80"/>
                </a:solidFill>
                <a:latin typeface="Aptos"/>
              </a:defRPr>
            </a:pPr>
            <a:r>
              <a:t>Confusion matrices provide a breakdown of correct and incorrect predictions for each class.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20040" y="164592"/>
            <a:ext cx="347472" cy="347472"/>
          </a:xfrm>
          <a:prstGeom prst="ellipse">
            <a:avLst/>
          </a:prstGeom>
          <a:solidFill>
            <a:srgbClr val="FFFFFF"/>
          </a:solidFill>
          <a:ln>
            <a:solidFill>
              <a:srgbClr val="2F6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201168"/>
            <a:ext cx="347472" cy="210312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ctr">
              <a:spcAft>
                <a:spcPts val="400"/>
              </a:spcAft>
              <a:defRPr sz="1500" b="1">
                <a:solidFill>
                  <a:srgbClr val="F25B0C"/>
                </a:solidFill>
                <a:latin typeface="Aptos"/>
              </a:defRPr>
            </a:pPr>
            <a: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92024"/>
            <a:ext cx="2743200" cy="27432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1C365E"/>
                </a:solidFill>
                <a:latin typeface="Aptos"/>
              </a:defRPr>
            </a:pPr>
            <a:r>
              <a:t>ADITYA UNIVERSITY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21792"/>
            <a:ext cx="12191695" cy="50292"/>
          </a:xfrm>
          <a:prstGeom prst="rect">
            <a:avLst/>
          </a:prstGeom>
          <a:solidFill>
            <a:srgbClr val="F25B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75720" y="6537960"/>
            <a:ext cx="411480" cy="164592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r">
              <a:spcAft>
                <a:spcPts val="400"/>
              </a:spcAft>
              <a:defRPr sz="900" b="0">
                <a:solidFill>
                  <a:srgbClr val="5E6C80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832104"/>
            <a:ext cx="11064240" cy="475488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spcAft>
                <a:spcPts val="400"/>
              </a:spcAft>
              <a:defRPr sz="2700" b="1">
                <a:solidFill>
                  <a:srgbClr val="1C365E"/>
                </a:solidFill>
                <a:latin typeface="Aptos Display"/>
              </a:defRPr>
            </a:pPr>
            <a:r>
              <a:t>Model Comparison Results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316736"/>
            <a:ext cx="10972800" cy="292608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5E6C80"/>
                </a:solidFill>
                <a:latin typeface="Aptos"/>
              </a:defRPr>
            </a:pPr>
            <a:r>
              <a:t>Recorded test-set metrics from the current notebook experiment</a:t>
            </a:r>
          </a:p>
        </p:txBody>
      </p:sp>
      <p:pic>
        <p:nvPicPr>
          <p:cNvPr id="9" name="Picture 8" descr="svm_accuracy_13sl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828800"/>
            <a:ext cx="5486400" cy="3200400"/>
          </a:xfrm>
          <a:prstGeom prst="rect">
            <a:avLst/>
          </a:prstGeom>
        </p:spPr>
      </p:pic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263640" y="1965960"/>
          <a:ext cx="534924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9848"/>
                <a:gridCol w="1069848"/>
                <a:gridCol w="1069848"/>
                <a:gridCol w="1069848"/>
                <a:gridCol w="1069848"/>
              </a:tblGrid>
              <a:tr h="64008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1C36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Accuracy</a:t>
                      </a:r>
                    </a:p>
                  </a:txBody>
                  <a:tcPr>
                    <a:solidFill>
                      <a:srgbClr val="1C36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Precision</a:t>
                      </a:r>
                    </a:p>
                  </a:txBody>
                  <a:tcPr>
                    <a:solidFill>
                      <a:srgbClr val="1C36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Recall</a:t>
                      </a:r>
                    </a:p>
                  </a:txBody>
                  <a:tcPr>
                    <a:solidFill>
                      <a:srgbClr val="1C36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F1-score</a:t>
                      </a:r>
                    </a:p>
                  </a:txBody>
                  <a:tcPr>
                    <a:solidFill>
                      <a:srgbClr val="1C365E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202834"/>
                          </a:solidFill>
                        </a:defRPr>
                      </a:pPr>
                      <a:r>
                        <a:t>Linear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202834"/>
                          </a:solidFill>
                        </a:defRPr>
                      </a:pPr>
                      <a:r>
                        <a:t>80.53%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202834"/>
                          </a:solidFill>
                        </a:defRPr>
                      </a:pPr>
                      <a:r>
                        <a:t>78.22%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202834"/>
                          </a:solidFill>
                        </a:defRPr>
                      </a:pPr>
                      <a:r>
                        <a:t>89.49%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202834"/>
                          </a:solidFill>
                        </a:defRPr>
                      </a:pPr>
                      <a:r>
                        <a:t>83.47%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202834"/>
                          </a:solidFill>
                        </a:defRPr>
                      </a:pPr>
                      <a:r>
                        <a:t>Polynomial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202834"/>
                          </a:solidFill>
                        </a:defRPr>
                      </a:pPr>
                      <a:r>
                        <a:t>95.05%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202834"/>
                          </a:solidFill>
                        </a:defRPr>
                      </a:pPr>
                      <a:r>
                        <a:t>93.16%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202834"/>
                          </a:solidFill>
                        </a:defRPr>
                      </a:pPr>
                      <a:r>
                        <a:t>98.20%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202834"/>
                          </a:solidFill>
                        </a:defRPr>
                      </a:pPr>
                      <a:r>
                        <a:t>95.61%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202834"/>
                          </a:solidFill>
                        </a:defRPr>
                      </a:pPr>
                      <a:r>
                        <a:t>RBF</a:t>
                      </a:r>
                    </a:p>
                  </a:txBody>
                  <a:tcPr>
                    <a:solidFill>
                      <a:srgbClr val="FFEFE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202834"/>
                          </a:solidFill>
                        </a:defRPr>
                      </a:pPr>
                      <a:r>
                        <a:t>96.86%</a:t>
                      </a:r>
                    </a:p>
                  </a:txBody>
                  <a:tcPr>
                    <a:solidFill>
                      <a:srgbClr val="FFEFE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202834"/>
                          </a:solidFill>
                        </a:defRPr>
                      </a:pPr>
                      <a:r>
                        <a:t>95.64%</a:t>
                      </a:r>
                    </a:p>
                  </a:txBody>
                  <a:tcPr>
                    <a:solidFill>
                      <a:srgbClr val="FFEFE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202834"/>
                          </a:solidFill>
                        </a:defRPr>
                      </a:pPr>
                      <a:r>
                        <a:t>98.80%</a:t>
                      </a:r>
                    </a:p>
                  </a:txBody>
                  <a:tcPr>
                    <a:solidFill>
                      <a:srgbClr val="FFEFE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202834"/>
                          </a:solidFill>
                        </a:defRPr>
                      </a:pPr>
                      <a:r>
                        <a:t>97.19%</a:t>
                      </a:r>
                    </a:p>
                  </a:txBody>
                  <a:tcPr>
                    <a:solidFill>
                      <a:srgbClr val="FFEFE4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400800" y="4892040"/>
            <a:ext cx="4937760" cy="68580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26825B"/>
                </a:solidFill>
                <a:latin typeface="Aptos"/>
              </a:defRPr>
            </a:pPr>
            <a:r>
              <a:t>Best recorded model: RBF SVM</a:t>
            </a:r>
          </a:p>
          <a:p>
            <a:pPr>
              <a:spcAft>
                <a:spcPts val="400"/>
              </a:spcAft>
              <a:defRPr sz="1500" b="1">
                <a:solidFill>
                  <a:srgbClr val="26825B"/>
                </a:solidFill>
                <a:latin typeface="Aptos"/>
              </a:defRPr>
            </a:pPr>
            <a:r>
              <a:t>Accuracy: 96.86%  |  F1-score: 0.9719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20040" y="164592"/>
            <a:ext cx="347472" cy="347472"/>
          </a:xfrm>
          <a:prstGeom prst="ellipse">
            <a:avLst/>
          </a:prstGeom>
          <a:solidFill>
            <a:srgbClr val="FFFFFF"/>
          </a:solidFill>
          <a:ln>
            <a:solidFill>
              <a:srgbClr val="2F6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201168"/>
            <a:ext cx="347472" cy="210312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ctr">
              <a:spcAft>
                <a:spcPts val="400"/>
              </a:spcAft>
              <a:defRPr sz="1500" b="1">
                <a:solidFill>
                  <a:srgbClr val="F25B0C"/>
                </a:solidFill>
                <a:latin typeface="Aptos"/>
              </a:defRPr>
            </a:pPr>
            <a: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92024"/>
            <a:ext cx="2743200" cy="27432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1C365E"/>
                </a:solidFill>
                <a:latin typeface="Aptos"/>
              </a:defRPr>
            </a:pPr>
            <a:r>
              <a:t>ADITYA UNIVERSITY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21792"/>
            <a:ext cx="12191695" cy="50292"/>
          </a:xfrm>
          <a:prstGeom prst="rect">
            <a:avLst/>
          </a:prstGeom>
          <a:solidFill>
            <a:srgbClr val="F25B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75720" y="6537960"/>
            <a:ext cx="411480" cy="164592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r">
              <a:spcAft>
                <a:spcPts val="400"/>
              </a:spcAft>
              <a:defRPr sz="900" b="0">
                <a:solidFill>
                  <a:srgbClr val="5E6C80"/>
                </a:solidFill>
                <a:latin typeface="Aptos"/>
              </a:defRPr>
            </a:pPr>
            <a:r>
              <a:t>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832104"/>
            <a:ext cx="11064240" cy="475488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spcAft>
                <a:spcPts val="400"/>
              </a:spcAft>
              <a:defRPr sz="2700" b="1">
                <a:solidFill>
                  <a:srgbClr val="1C365E"/>
                </a:solidFill>
                <a:latin typeface="Aptos Display"/>
              </a:defRPr>
            </a:pPr>
            <a:r>
              <a:t>Website Interface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316736"/>
            <a:ext cx="10972800" cy="292608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5E6C80"/>
                </a:solidFill>
                <a:latin typeface="Aptos"/>
              </a:defRPr>
            </a:pPr>
            <a:r>
              <a:t>Gradio application for entering patient medical features</a:t>
            </a:r>
          </a:p>
        </p:txBody>
      </p:sp>
      <p:pic>
        <p:nvPicPr>
          <p:cNvPr id="9" name="Picture 8" descr="image(20261025-171515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4545" y="1691640"/>
            <a:ext cx="8042603" cy="42976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31520" y="6016752"/>
            <a:ext cx="10698480" cy="27432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ctr">
              <a:spcAft>
                <a:spcPts val="400"/>
              </a:spcAft>
              <a:defRPr sz="1100" b="0">
                <a:solidFill>
                  <a:srgbClr val="5E6C80"/>
                </a:solidFill>
                <a:latin typeface="Aptos"/>
              </a:defRPr>
            </a:pPr>
            <a:r>
              <a:t>The form accepts 13 input features and displays the model's predicted class.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20040" y="164592"/>
            <a:ext cx="347472" cy="347472"/>
          </a:xfrm>
          <a:prstGeom prst="ellipse">
            <a:avLst/>
          </a:prstGeom>
          <a:solidFill>
            <a:srgbClr val="FFFFFF"/>
          </a:solidFill>
          <a:ln>
            <a:solidFill>
              <a:srgbClr val="2F6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201168"/>
            <a:ext cx="347472" cy="210312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ctr">
              <a:spcAft>
                <a:spcPts val="400"/>
              </a:spcAft>
              <a:defRPr sz="1500" b="1">
                <a:solidFill>
                  <a:srgbClr val="F25B0C"/>
                </a:solidFill>
                <a:latin typeface="Aptos"/>
              </a:defRPr>
            </a:pPr>
            <a: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92024"/>
            <a:ext cx="2743200" cy="27432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1C365E"/>
                </a:solidFill>
                <a:latin typeface="Aptos"/>
              </a:defRPr>
            </a:pPr>
            <a:r>
              <a:t>ADITYA UNIVERSITY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21792"/>
            <a:ext cx="12191695" cy="50292"/>
          </a:xfrm>
          <a:prstGeom prst="rect">
            <a:avLst/>
          </a:prstGeom>
          <a:solidFill>
            <a:srgbClr val="F25B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75720" y="6537960"/>
            <a:ext cx="411480" cy="164592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r">
              <a:spcAft>
                <a:spcPts val="400"/>
              </a:spcAft>
              <a:defRPr sz="900" b="0">
                <a:solidFill>
                  <a:srgbClr val="5E6C80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832104"/>
            <a:ext cx="11064240" cy="475488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spcAft>
                <a:spcPts val="400"/>
              </a:spcAft>
              <a:defRPr sz="2700" b="1">
                <a:solidFill>
                  <a:srgbClr val="1C365E"/>
                </a:solidFill>
                <a:latin typeface="Aptos Display"/>
              </a:defRPr>
            </a:pPr>
            <a:r>
              <a:t>Website Prediction Workflow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316736"/>
            <a:ext cx="10972800" cy="292608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5E6C80"/>
                </a:solidFill>
                <a:latin typeface="Aptos"/>
              </a:defRPr>
            </a:pPr>
            <a:r>
              <a:t>What happens after the user clicks “Predict Heart Disease”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606040"/>
            <a:ext cx="1965960" cy="1325880"/>
          </a:xfrm>
          <a:prstGeom prst="roundRect">
            <a:avLst/>
          </a:prstGeom>
          <a:solidFill>
            <a:srgbClr val="F6F8FB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225296" y="2304288"/>
            <a:ext cx="512064" cy="512064"/>
          </a:xfrm>
          <a:prstGeom prst="ellipse">
            <a:avLst/>
          </a:prstGeom>
          <a:solidFill>
            <a:srgbClr val="F25B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52728" y="2441448"/>
            <a:ext cx="457200" cy="18288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ctr">
              <a:spcAft>
                <a:spcPts val="4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" y="2898648"/>
            <a:ext cx="1746504" cy="68580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ctr">
              <a:spcAft>
                <a:spcPts val="400"/>
              </a:spcAft>
              <a:defRPr sz="1400" b="1">
                <a:solidFill>
                  <a:srgbClr val="1C365E"/>
                </a:solidFill>
                <a:latin typeface="Aptos"/>
              </a:defRPr>
            </a:pPr>
            <a:r>
              <a:t>Enter patient</a:t>
            </a:r>
          </a:p>
          <a:p>
            <a:pPr algn="ctr">
              <a:spcAft>
                <a:spcPts val="400"/>
              </a:spcAft>
              <a:defRPr sz="1400" b="1">
                <a:solidFill>
                  <a:srgbClr val="1C365E"/>
                </a:solidFill>
                <a:latin typeface="Aptos"/>
              </a:defRPr>
            </a:pPr>
            <a:r>
              <a:t>features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468880" y="3273552"/>
            <a:ext cx="320040" cy="0"/>
          </a:xfrm>
          <a:prstGeom prst="line">
            <a:avLst/>
          </a:prstGeom>
          <a:ln>
            <a:solidFill>
              <a:srgbClr val="5E6C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862072" y="2606040"/>
            <a:ext cx="1965960" cy="1325880"/>
          </a:xfrm>
          <a:prstGeom prst="roundRect">
            <a:avLst/>
          </a:prstGeom>
          <a:solidFill>
            <a:srgbClr val="F6F8FB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84448" y="2304288"/>
            <a:ext cx="512064" cy="512064"/>
          </a:xfrm>
          <a:prstGeom prst="ellipse">
            <a:avLst/>
          </a:prstGeom>
          <a:solidFill>
            <a:srgbClr val="2F6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11879" y="2441448"/>
            <a:ext cx="457200" cy="18288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ctr">
              <a:spcAft>
                <a:spcPts val="4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71800" y="2898648"/>
            <a:ext cx="1746504" cy="68580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ctr">
              <a:spcAft>
                <a:spcPts val="400"/>
              </a:spcAft>
              <a:defRPr sz="1400" b="1">
                <a:solidFill>
                  <a:srgbClr val="1C365E"/>
                </a:solidFill>
                <a:latin typeface="Aptos"/>
              </a:defRPr>
            </a:pPr>
            <a:r>
              <a:t>Arrange features</a:t>
            </a:r>
          </a:p>
          <a:p>
            <a:pPr algn="ctr">
              <a:spcAft>
                <a:spcPts val="400"/>
              </a:spcAft>
              <a:defRPr sz="1400" b="1">
                <a:solidFill>
                  <a:srgbClr val="1C365E"/>
                </a:solidFill>
                <a:latin typeface="Aptos"/>
              </a:defRPr>
            </a:pPr>
            <a:r>
              <a:t>in training order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828031" y="3273552"/>
            <a:ext cx="320041" cy="0"/>
          </a:xfrm>
          <a:prstGeom prst="line">
            <a:avLst/>
          </a:prstGeom>
          <a:ln>
            <a:solidFill>
              <a:srgbClr val="5E6C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5221224" y="2606040"/>
            <a:ext cx="1965960" cy="1325880"/>
          </a:xfrm>
          <a:prstGeom prst="roundRect">
            <a:avLst/>
          </a:prstGeom>
          <a:solidFill>
            <a:srgbClr val="F6F8FB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943600" y="2304288"/>
            <a:ext cx="512064" cy="512064"/>
          </a:xfrm>
          <a:prstGeom prst="ellipse">
            <a:avLst/>
          </a:prstGeom>
          <a:solidFill>
            <a:srgbClr val="F25B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71032" y="2441448"/>
            <a:ext cx="457200" cy="18288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ctr">
              <a:spcAft>
                <a:spcPts val="4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30952" y="2898648"/>
            <a:ext cx="1746504" cy="68580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ctr">
              <a:spcAft>
                <a:spcPts val="400"/>
              </a:spcAft>
              <a:defRPr sz="1400" b="1">
                <a:solidFill>
                  <a:srgbClr val="1C365E"/>
                </a:solidFill>
                <a:latin typeface="Aptos"/>
              </a:defRPr>
            </a:pPr>
            <a:r>
              <a:t>Scale using the</a:t>
            </a:r>
          </a:p>
          <a:p>
            <a:pPr algn="ctr">
              <a:spcAft>
                <a:spcPts val="400"/>
              </a:spcAft>
              <a:defRPr sz="1400" b="1">
                <a:solidFill>
                  <a:srgbClr val="1C365E"/>
                </a:solidFill>
                <a:latin typeface="Aptos"/>
              </a:defRPr>
            </a:pPr>
            <a:r>
              <a:t>saved scaler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187183" y="3273552"/>
            <a:ext cx="320041" cy="0"/>
          </a:xfrm>
          <a:prstGeom prst="line">
            <a:avLst/>
          </a:prstGeom>
          <a:ln>
            <a:solidFill>
              <a:srgbClr val="5E6C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7580376" y="2606040"/>
            <a:ext cx="1965960" cy="1325880"/>
          </a:xfrm>
          <a:prstGeom prst="roundRect">
            <a:avLst/>
          </a:prstGeom>
          <a:solidFill>
            <a:srgbClr val="F6F8FB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302752" y="2304288"/>
            <a:ext cx="512064" cy="512064"/>
          </a:xfrm>
          <a:prstGeom prst="ellipse">
            <a:avLst/>
          </a:prstGeom>
          <a:solidFill>
            <a:srgbClr val="2F6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30184" y="2441448"/>
            <a:ext cx="457200" cy="18288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ctr">
              <a:spcAft>
                <a:spcPts val="4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90104" y="2898648"/>
            <a:ext cx="1746504" cy="68580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ctr">
              <a:spcAft>
                <a:spcPts val="400"/>
              </a:spcAft>
              <a:defRPr sz="1400" b="1">
                <a:solidFill>
                  <a:srgbClr val="1C365E"/>
                </a:solidFill>
                <a:latin typeface="Aptos"/>
              </a:defRPr>
            </a:pPr>
            <a:r>
              <a:t>Predict using</a:t>
            </a:r>
          </a:p>
          <a:p>
            <a:pPr algn="ctr">
              <a:spcAft>
                <a:spcPts val="400"/>
              </a:spcAft>
              <a:defRPr sz="1400" b="1">
                <a:solidFill>
                  <a:srgbClr val="1C365E"/>
                </a:solidFill>
                <a:latin typeface="Aptos"/>
              </a:defRPr>
            </a:pPr>
            <a:r>
              <a:t>RBF SVM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9546336" y="3273552"/>
            <a:ext cx="320040" cy="0"/>
          </a:xfrm>
          <a:prstGeom prst="line">
            <a:avLst/>
          </a:prstGeom>
          <a:ln>
            <a:solidFill>
              <a:srgbClr val="5E6C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9939528" y="2606040"/>
            <a:ext cx="1965960" cy="1325880"/>
          </a:xfrm>
          <a:prstGeom prst="roundRect">
            <a:avLst/>
          </a:prstGeom>
          <a:solidFill>
            <a:srgbClr val="F6F8FB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0661904" y="2304288"/>
            <a:ext cx="512064" cy="512064"/>
          </a:xfrm>
          <a:prstGeom prst="ellipse">
            <a:avLst/>
          </a:prstGeom>
          <a:solidFill>
            <a:srgbClr val="F25B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689336" y="2441448"/>
            <a:ext cx="457200" cy="18288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ctr">
              <a:spcAft>
                <a:spcPts val="4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49256" y="2898648"/>
            <a:ext cx="1746504" cy="68580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ctr">
              <a:spcAft>
                <a:spcPts val="400"/>
              </a:spcAft>
              <a:defRPr sz="1400" b="1">
                <a:solidFill>
                  <a:srgbClr val="1C365E"/>
                </a:solidFill>
                <a:latin typeface="Aptos"/>
              </a:defRPr>
            </a:pPr>
            <a:r>
              <a:t>Display the</a:t>
            </a:r>
          </a:p>
          <a:p>
            <a:pPr algn="ctr">
              <a:spcAft>
                <a:spcPts val="400"/>
              </a:spcAft>
              <a:defRPr sz="1400" b="1">
                <a:solidFill>
                  <a:srgbClr val="1C365E"/>
                </a:solidFill>
                <a:latin typeface="Aptos"/>
              </a:defRPr>
            </a:pPr>
            <a:r>
              <a:t>predicted class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4709160"/>
            <a:ext cx="10332720" cy="64008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ctr">
              <a:spcAft>
                <a:spcPts val="400"/>
              </a:spcAft>
              <a:defRPr sz="1500" b="0">
                <a:solidFill>
                  <a:srgbClr val="5E6C80"/>
                </a:solidFill>
                <a:latin typeface="Aptos"/>
              </a:defRPr>
            </a:pPr>
            <a:r>
              <a:t>The output is a model prediction only and should not be interpreted as a medical diagnosis.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20040" y="164592"/>
            <a:ext cx="347472" cy="347472"/>
          </a:xfrm>
          <a:prstGeom prst="ellipse">
            <a:avLst/>
          </a:prstGeom>
          <a:solidFill>
            <a:srgbClr val="FFFFFF"/>
          </a:solidFill>
          <a:ln>
            <a:solidFill>
              <a:srgbClr val="2F6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201168"/>
            <a:ext cx="347472" cy="210312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ctr">
              <a:spcAft>
                <a:spcPts val="400"/>
              </a:spcAft>
              <a:defRPr sz="1500" b="1">
                <a:solidFill>
                  <a:srgbClr val="F25B0C"/>
                </a:solidFill>
                <a:latin typeface="Aptos"/>
              </a:defRPr>
            </a:pPr>
            <a: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92024"/>
            <a:ext cx="2743200" cy="27432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1C365E"/>
                </a:solidFill>
                <a:latin typeface="Aptos"/>
              </a:defRPr>
            </a:pPr>
            <a:r>
              <a:t>ADITYA UNIVERSITY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21792"/>
            <a:ext cx="12191695" cy="50292"/>
          </a:xfrm>
          <a:prstGeom prst="rect">
            <a:avLst/>
          </a:prstGeom>
          <a:solidFill>
            <a:srgbClr val="F25B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75720" y="6537960"/>
            <a:ext cx="411480" cy="164592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r">
              <a:spcAft>
                <a:spcPts val="400"/>
              </a:spcAft>
              <a:defRPr sz="900" b="0">
                <a:solidFill>
                  <a:srgbClr val="5E6C80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832104"/>
            <a:ext cx="11064240" cy="475488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spcAft>
                <a:spcPts val="400"/>
              </a:spcAft>
              <a:defRPr sz="2700" b="1">
                <a:solidFill>
                  <a:srgbClr val="1C365E"/>
                </a:solidFill>
                <a:latin typeface="Aptos Display"/>
              </a:defRPr>
            </a:pPr>
            <a:r>
              <a:t>Current Status &amp; Future Improvements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316736"/>
            <a:ext cx="10972800" cy="292608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5E6C80"/>
                </a:solidFill>
                <a:latin typeface="Aptos"/>
              </a:defRPr>
            </a:pPr>
            <a:r>
              <a:t>Completed workflow and recommended refinements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783080"/>
            <a:ext cx="5394960" cy="3429000"/>
          </a:xfrm>
          <a:prstGeom prst="roundRect">
            <a:avLst/>
          </a:prstGeom>
          <a:solidFill>
            <a:srgbClr val="F6F8FB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783080"/>
            <a:ext cx="64008" cy="3429000"/>
          </a:xfrm>
          <a:prstGeom prst="rect">
            <a:avLst/>
          </a:prstGeom>
          <a:solidFill>
            <a:srgbClr val="2682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59" y="1911095"/>
            <a:ext cx="5074920" cy="292608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1C365E"/>
                </a:solidFill>
                <a:latin typeface="Aptos"/>
              </a:defRPr>
            </a:pPr>
            <a:r>
              <a:t>Completed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2267712"/>
            <a:ext cx="5047488" cy="2862072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202834"/>
                </a:solidFill>
                <a:latin typeface="Aptos"/>
              </a:defRPr>
            </a:pPr>
            <a:r>
              <a:t>✓ Dataset loading and exploration</a:t>
            </a:r>
          </a:p>
          <a:p>
            <a:pPr>
              <a:spcAft>
                <a:spcPts val="400"/>
              </a:spcAft>
              <a:defRPr sz="1400" b="0">
                <a:solidFill>
                  <a:srgbClr val="202834"/>
                </a:solidFill>
                <a:latin typeface="Aptos"/>
              </a:defRPr>
            </a:pPr>
            <a:r>
              <a:t>✓ Missing-value and duplicate handling</a:t>
            </a:r>
          </a:p>
          <a:p>
            <a:pPr>
              <a:spcAft>
                <a:spcPts val="400"/>
              </a:spcAft>
              <a:defRPr sz="1400" b="0">
                <a:solidFill>
                  <a:srgbClr val="202834"/>
                </a:solidFill>
                <a:latin typeface="Aptos"/>
              </a:defRPr>
            </a:pPr>
            <a:r>
              <a:t>✓ Visual analysis and feature scaling</a:t>
            </a:r>
          </a:p>
          <a:p>
            <a:pPr>
              <a:spcAft>
                <a:spcPts val="400"/>
              </a:spcAft>
              <a:defRPr sz="1400" b="0">
                <a:solidFill>
                  <a:srgbClr val="202834"/>
                </a:solidFill>
                <a:latin typeface="Aptos"/>
              </a:defRPr>
            </a:pPr>
            <a:r>
              <a:t>✓ Three SVM kernels trained and compared</a:t>
            </a:r>
          </a:p>
          <a:p>
            <a:pPr>
              <a:spcAft>
                <a:spcPts val="400"/>
              </a:spcAft>
              <a:defRPr sz="1400" b="0">
                <a:solidFill>
                  <a:srgbClr val="202834"/>
                </a:solidFill>
                <a:latin typeface="Aptos"/>
              </a:defRPr>
            </a:pPr>
            <a:r>
              <a:t>✓ RBF SVM selected by F1-score</a:t>
            </a:r>
          </a:p>
          <a:p>
            <a:pPr>
              <a:spcAft>
                <a:spcPts val="400"/>
              </a:spcAft>
              <a:defRPr sz="1400" b="0">
                <a:solidFill>
                  <a:srgbClr val="202834"/>
                </a:solidFill>
                <a:latin typeface="Aptos"/>
              </a:defRPr>
            </a:pPr>
            <a:r>
              <a:t>✓ Gradio prediction interface created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783080"/>
            <a:ext cx="5303520" cy="3429000"/>
          </a:xfrm>
          <a:prstGeom prst="roundRect">
            <a:avLst/>
          </a:prstGeom>
          <a:solidFill>
            <a:srgbClr val="F6F8FB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1783080"/>
            <a:ext cx="64008" cy="3429000"/>
          </a:xfrm>
          <a:prstGeom prst="rect">
            <a:avLst/>
          </a:prstGeom>
          <a:solidFill>
            <a:srgbClr val="F25B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911095"/>
            <a:ext cx="4983480" cy="292608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1C365E"/>
                </a:solidFill>
                <a:latin typeface="Aptos"/>
              </a:defRPr>
            </a:pPr>
            <a:r>
              <a:t>Future Improvements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267712"/>
            <a:ext cx="4956048" cy="2862072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202834"/>
                </a:solidFill>
                <a:latin typeface="Aptos"/>
              </a:defRPr>
            </a:pPr>
            <a:r>
              <a:t>• Fit imputation on training data only</a:t>
            </a:r>
          </a:p>
          <a:p>
            <a:pPr>
              <a:spcAft>
                <a:spcPts val="400"/>
              </a:spcAft>
              <a:defRPr sz="1400" b="0">
                <a:solidFill>
                  <a:srgbClr val="202834"/>
                </a:solidFill>
                <a:latin typeface="Aptos"/>
              </a:defRPr>
            </a:pPr>
            <a:r>
              <a:t>• Ensure preprocessing avoids data leakage</a:t>
            </a:r>
          </a:p>
          <a:p>
            <a:pPr>
              <a:spcAft>
                <a:spcPts val="400"/>
              </a:spcAft>
              <a:defRPr sz="1400" b="0">
                <a:solidFill>
                  <a:srgbClr val="202834"/>
                </a:solidFill>
                <a:latin typeface="Aptos"/>
              </a:defRPr>
            </a:pPr>
            <a:r>
              <a:t>• Recheck outlier handling consistently</a:t>
            </a:r>
          </a:p>
          <a:p>
            <a:pPr>
              <a:spcAft>
                <a:spcPts val="400"/>
              </a:spcAft>
              <a:defRPr sz="1400" b="0">
                <a:solidFill>
                  <a:srgbClr val="202834"/>
                </a:solidFill>
                <a:latin typeface="Aptos"/>
              </a:defRPr>
            </a:pPr>
            <a:r>
              <a:t>• Validate on an independent dataset</a:t>
            </a:r>
          </a:p>
          <a:p>
            <a:pPr>
              <a:spcAft>
                <a:spcPts val="400"/>
              </a:spcAft>
              <a:defRPr sz="1400" b="0">
                <a:solidFill>
                  <a:srgbClr val="202834"/>
                </a:solidFill>
                <a:latin typeface="Aptos"/>
              </a:defRPr>
            </a:pPr>
            <a:r>
              <a:t>• Add clearer input validation and explanations</a:t>
            </a:r>
          </a:p>
          <a:p>
            <a:pPr>
              <a:spcAft>
                <a:spcPts val="400"/>
              </a:spcAft>
              <a:defRPr sz="1400" b="0">
                <a:solidFill>
                  <a:srgbClr val="202834"/>
                </a:solidFill>
                <a:latin typeface="Aptos"/>
              </a:defRPr>
            </a:pPr>
            <a:r>
              <a:t>• Communicate limitations responsibly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577840"/>
            <a:ext cx="10515600" cy="41148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ctr">
              <a:spcAft>
                <a:spcPts val="400"/>
              </a:spcAft>
              <a:defRPr sz="1300" b="1">
                <a:solidFill>
                  <a:srgbClr val="5E6C80"/>
                </a:solidFill>
                <a:latin typeface="Aptos"/>
              </a:defRPr>
            </a:pPr>
            <a:r>
              <a:t>Reported scores reflect the current experiment and do not establish clinical reliability.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36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25B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77240"/>
            <a:ext cx="10515600" cy="54864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ctr">
              <a:spcAft>
                <a:spcPts val="400"/>
              </a:spcAft>
              <a:defRPr sz="1800" b="1">
                <a:solidFill>
                  <a:srgbClr val="FFBE91"/>
                </a:solidFill>
                <a:latin typeface="Aptos"/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00200"/>
            <a:ext cx="10332720" cy="82296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ctr">
              <a:spcAft>
                <a:spcPts val="400"/>
              </a:spcAft>
              <a:defRPr sz="3000" b="1">
                <a:solidFill>
                  <a:srgbClr val="FFFFFF"/>
                </a:solidFill>
                <a:latin typeface="Aptos Display"/>
              </a:defRPr>
            </a:pPr>
            <a:r>
              <a:t>Heart Disease Prediction Using SVM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2743200"/>
            <a:ext cx="9509760" cy="137160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ctr">
              <a:spcAft>
                <a:spcPts val="400"/>
              </a:spcAft>
              <a:defRPr sz="1900" b="0">
                <a:solidFill>
                  <a:srgbClr val="FFFFFF"/>
                </a:solidFill>
                <a:latin typeface="Aptos"/>
              </a:defRPr>
            </a:pPr>
            <a:r>
              <a:t>This project demonstrates an end-to-end machine-learning workflow: data preparation, SVM kernel comparison, evaluation, and a Gradio-based prediction interface.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526280"/>
            <a:ext cx="9418320" cy="59436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ctr">
              <a:spcAft>
                <a:spcPts val="400"/>
              </a:spcAft>
              <a:defRPr sz="1700" b="1">
                <a:solidFill>
                  <a:srgbClr val="FFBE91"/>
                </a:solidFill>
                <a:latin typeface="Aptos"/>
              </a:defRPr>
            </a:pPr>
            <a:r>
              <a:t>RBF SVM achieved the best recorded F1-score (0.9719) in the current experiment.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577840"/>
            <a:ext cx="10332720" cy="50292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ctr">
              <a:spcAft>
                <a:spcPts val="400"/>
              </a:spcAft>
              <a:defRPr sz="1800" b="1">
                <a:solidFill>
                  <a:srgbClr val="FFFFFF"/>
                </a:solidFill>
                <a:latin typeface="Aptos"/>
              </a:defRPr>
            </a:pPr>
            <a:r>
              <a:t>THANK YOU  •  QUESTIONS?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20040" y="164592"/>
            <a:ext cx="347472" cy="347472"/>
          </a:xfrm>
          <a:prstGeom prst="ellipse">
            <a:avLst/>
          </a:prstGeom>
          <a:solidFill>
            <a:srgbClr val="FFFFFF"/>
          </a:solidFill>
          <a:ln>
            <a:solidFill>
              <a:srgbClr val="2F6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201168"/>
            <a:ext cx="347472" cy="210312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ctr">
              <a:spcAft>
                <a:spcPts val="400"/>
              </a:spcAft>
              <a:defRPr sz="1500" b="1">
                <a:solidFill>
                  <a:srgbClr val="F25B0C"/>
                </a:solidFill>
                <a:latin typeface="Aptos"/>
              </a:defRPr>
            </a:pPr>
            <a: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92024"/>
            <a:ext cx="2743200" cy="27432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1C365E"/>
                </a:solidFill>
                <a:latin typeface="Aptos"/>
              </a:defRPr>
            </a:pPr>
            <a:r>
              <a:t>ADITYA UNIVERSITY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21792"/>
            <a:ext cx="12191695" cy="50292"/>
          </a:xfrm>
          <a:prstGeom prst="rect">
            <a:avLst/>
          </a:prstGeom>
          <a:solidFill>
            <a:srgbClr val="F25B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75720" y="6537960"/>
            <a:ext cx="411480" cy="164592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r">
              <a:spcAft>
                <a:spcPts val="400"/>
              </a:spcAft>
              <a:defRPr sz="900" b="0">
                <a:solidFill>
                  <a:srgbClr val="5E6C80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832104"/>
            <a:ext cx="11064240" cy="475488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spcAft>
                <a:spcPts val="400"/>
              </a:spcAft>
              <a:defRPr sz="2700" b="1">
                <a:solidFill>
                  <a:srgbClr val="1C365E"/>
                </a:solidFill>
                <a:latin typeface="Aptos Display"/>
              </a:defRPr>
            </a:pPr>
            <a:r>
              <a:t>References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316736"/>
            <a:ext cx="10972800" cy="292608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5E6C80"/>
                </a:solidFill>
                <a:latin typeface="Aptos"/>
              </a:defRPr>
            </a:pPr>
            <a:r>
              <a:t>Tools and research resources used in the project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828800"/>
            <a:ext cx="10698480" cy="347472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spcAft>
                <a:spcPts val="400"/>
              </a:spcAft>
              <a:defRPr sz="1500" b="0">
                <a:solidFill>
                  <a:srgbClr val="202834"/>
                </a:solidFill>
                <a:latin typeface="Aptos"/>
              </a:defRPr>
            </a:pPr>
            <a:r>
              <a:t>•  Cortes, C. and Vapnik, V. (1995). Support-Vector Networks. Machine Learning, 20, 273–297.</a:t>
            </a:r>
          </a:p>
          <a:p>
            <a:pPr>
              <a:spcAft>
                <a:spcPts val="400"/>
              </a:spcAft>
              <a:defRPr sz="1500" b="0">
                <a:solidFill>
                  <a:srgbClr val="202834"/>
                </a:solidFill>
                <a:latin typeface="Aptos"/>
              </a:defRPr>
            </a:pPr>
            <a:r>
              <a:t>•  Pedregosa, F. et al. (2011). Scikit-learn: Machine Learning in Python. Journal of Machine Learning Research, 12, 2825–2830.</a:t>
            </a:r>
          </a:p>
          <a:p>
            <a:pPr>
              <a:spcAft>
                <a:spcPts val="400"/>
              </a:spcAft>
              <a:defRPr sz="1500" b="0">
                <a:solidFill>
                  <a:srgbClr val="202834"/>
                </a:solidFill>
                <a:latin typeface="Aptos"/>
              </a:defRPr>
            </a:pPr>
            <a:r>
              <a:t>•  Scikit-learn documentation: https://scikit-learn.org/</a:t>
            </a:r>
          </a:p>
          <a:p>
            <a:pPr>
              <a:spcAft>
                <a:spcPts val="400"/>
              </a:spcAft>
              <a:defRPr sz="1500" b="0">
                <a:solidFill>
                  <a:srgbClr val="202834"/>
                </a:solidFill>
                <a:latin typeface="Aptos"/>
              </a:defRPr>
            </a:pPr>
            <a:r>
              <a:t>•  Gradio documentation: https://www.gradio.app/docs</a:t>
            </a:r>
          </a:p>
          <a:p>
            <a:pPr>
              <a:spcAft>
                <a:spcPts val="400"/>
              </a:spcAft>
              <a:defRPr sz="1500" b="0">
                <a:solidFill>
                  <a:srgbClr val="202834"/>
                </a:solidFill>
                <a:latin typeface="Aptos"/>
              </a:defRPr>
            </a:pPr>
            <a:r>
              <a:t>•  Project dataset and Google Colab implementation used for the current experiment.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715000"/>
            <a:ext cx="10424160" cy="41148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ctr">
              <a:spcAft>
                <a:spcPts val="400"/>
              </a:spcAft>
              <a:defRPr sz="1600" b="1">
                <a:solidFill>
                  <a:srgbClr val="F25B0C"/>
                </a:solidFill>
                <a:latin typeface="Aptos"/>
              </a:defRPr>
            </a:pPr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